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365760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21208" y="365760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76656" y="365760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32104" y="365760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" y="365760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365760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521208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1208" y="521208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6656" y="521208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521208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521208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000" y="521208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" y="676656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1208" y="676656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" y="676656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" y="676656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676656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3000" y="676656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5760" y="832104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1208" y="832104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6656" y="832104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2104" y="832104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7552" y="832104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3000" y="832104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07040" y="5760720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762488" y="5760720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17936" y="5760720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073384" y="5760720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228832" y="5760720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84280" y="5760720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07040" y="5916168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62488" y="5916168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17936" y="5916168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073384" y="5916168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228832" y="5916168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84280" y="5916168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607040" y="6071616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762488" y="6071616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917936" y="6071616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073384" y="6071616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28832" y="6071616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384280" y="6071616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07040" y="6227064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762488" y="6227064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917936" y="6227064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073384" y="6227064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228832" y="6227064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384280" y="6227064"/>
            <a:ext cx="50292" cy="50292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927080" y="182880"/>
            <a:ext cx="1005840" cy="1005840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561320" y="960120"/>
            <a:ext cx="502920" cy="5029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28600" y="5440680"/>
            <a:ext cx="1143000" cy="1143000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88720" y="6172200"/>
            <a:ext cx="457200" cy="45720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695797" y="384048"/>
            <a:ext cx="800100" cy="137160"/>
          </a:xfrm>
          <a:prstGeom prst="roundRect">
            <a:avLst>
              <a:gd name="adj" fmla="val 50000"/>
            </a:avLst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 rot="10800000">
            <a:off x="5741517" y="512063"/>
            <a:ext cx="708660" cy="628650"/>
          </a:xfrm>
          <a:prstGeom prst="triangl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912967" y="589787"/>
            <a:ext cx="85725" cy="85725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164427" y="635508"/>
            <a:ext cx="85725" cy="85725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38697" y="818388"/>
            <a:ext cx="85725" cy="85725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28800" y="1207008"/>
            <a:ext cx="85313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2B2D42"/>
                </a:solidFill>
                <a:latin typeface="Segoe UI"/>
              </a:rPr>
              <a:t>SLICEMETRIC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1883664"/>
            <a:ext cx="853135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D62828"/>
                </a:solidFill>
                <a:latin typeface="Segoe UI"/>
              </a:rPr>
              <a:t>Pizza Chain Analytics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0" y="2304288"/>
            <a:ext cx="85313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595959"/>
                </a:solidFill>
                <a:latin typeface="Segoe UI"/>
              </a:rPr>
              <a:t>Select a page to begin exploring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75207" y="2816352"/>
            <a:ext cx="320040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39799" y="2980944"/>
            <a:ext cx="384048" cy="384048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633575" y="294436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B2D42"/>
                </a:solidFill>
                <a:latin typeface="Segoe UI"/>
              </a:rPr>
              <a:t>Executive Overview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33575" y="3218688"/>
            <a:ext cx="2423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Overall KPIs &amp; revenue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633575" y="356616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633575" y="356616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D62828"/>
                </a:solidFill>
                <a:latin typeface="Segoe UI"/>
              </a:rPr>
              <a:t>→  Click to navigate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495647" y="2816352"/>
            <a:ext cx="320040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660239" y="2980944"/>
            <a:ext cx="384048" cy="384048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154015" y="294436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B2D42"/>
                </a:solidFill>
                <a:latin typeface="Segoe UI"/>
              </a:rPr>
              <a:t>Product Performance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54015" y="3218688"/>
            <a:ext cx="2423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Products &amp; categories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154015" y="356616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54015" y="356616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D62828"/>
                </a:solidFill>
                <a:latin typeface="Segoe UI"/>
              </a:rPr>
              <a:t>→  Click to navigate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016087" y="2816352"/>
            <a:ext cx="320040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180679" y="2980944"/>
            <a:ext cx="384048" cy="384048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74455" y="294436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B2D42"/>
                </a:solidFill>
                <a:latin typeface="Segoe UI"/>
              </a:rPr>
              <a:t>Customer Behaviour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74455" y="3218688"/>
            <a:ext cx="2423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Orders &amp; payment patterns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674455" y="356616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674455" y="356616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D62828"/>
                </a:solidFill>
                <a:latin typeface="Segoe UI"/>
              </a:rPr>
              <a:t>→  Click to navigate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75207" y="4315968"/>
            <a:ext cx="320040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39799" y="4480560"/>
            <a:ext cx="384048" cy="384048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633575" y="4443984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B2D42"/>
                </a:solidFill>
                <a:latin typeface="Segoe UI"/>
              </a:rPr>
              <a:t>Branch Performance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33575" y="4718304"/>
            <a:ext cx="2423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Branch-by-branch analysis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633575" y="5065776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633575" y="5065776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D62828"/>
                </a:solidFill>
                <a:latin typeface="Segoe UI"/>
              </a:rPr>
              <a:t>→  Click to navigate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495647" y="4315968"/>
            <a:ext cx="320040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660239" y="4480560"/>
            <a:ext cx="384048" cy="384048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154015" y="4443984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B2D42"/>
                </a:solidFill>
                <a:latin typeface="Segoe UI"/>
              </a:rPr>
              <a:t>Time Analysis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54015" y="4718304"/>
            <a:ext cx="2423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Hourly &amp; daily trends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154015" y="5065776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154015" y="5065776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D62828"/>
                </a:solidFill>
                <a:latin typeface="Segoe UI"/>
              </a:rPr>
              <a:t>→  Click to navigate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016087" y="4315968"/>
            <a:ext cx="3200400" cy="1207008"/>
          </a:xfrm>
          <a:prstGeom prst="roundRect">
            <a:avLst>
              <a:gd name="adj" fmla="val 12000"/>
            </a:avLst>
          </a:prstGeom>
          <a:solidFill>
            <a:srgbClr val="FBE4D5"/>
          </a:solidFill>
          <a:ln w="12700">
            <a:solidFill>
              <a:srgbClr val="D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180679" y="4480560"/>
            <a:ext cx="384048" cy="384048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674455" y="4443984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B2D42"/>
                </a:solidFill>
                <a:latin typeface="Segoe UI"/>
              </a:rPr>
              <a:t>Quick Analysis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74455" y="4718304"/>
            <a:ext cx="2423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Dynamic metric × dimension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674455" y="5065776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674455" y="5065776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→  Click to navigate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71600" y="6419088"/>
            <a:ext cx="94457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B2D42"/>
                </a:solidFill>
                <a:latin typeface="Segoe UI"/>
              </a:rPr>
              <a:t>SliceMetric Analytics  |  Data: Jan-May 2025  |  5 Branches  |  17 Products  |  5,000 Orders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72768" y="0"/>
            <a:ext cx="18288" cy="6858000"/>
          </a:xfrm>
          <a:prstGeom prst="rect">
            <a:avLst/>
          </a:prstGeom>
          <a:solidFill>
            <a:srgbClr val="EDD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8347" y="201168"/>
            <a:ext cx="576072" cy="98755"/>
          </a:xfrm>
          <a:prstGeom prst="roundRect">
            <a:avLst>
              <a:gd name="adj" fmla="val 50000"/>
            </a:avLst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31266" y="290779"/>
            <a:ext cx="510235" cy="452628"/>
          </a:xfrm>
          <a:prstGeom prst="triangl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4710" y="349300"/>
            <a:ext cx="61722" cy="61722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5761" y="382219"/>
            <a:ext cx="61722" cy="61722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5236" y="513892"/>
            <a:ext cx="61722" cy="61722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804672"/>
            <a:ext cx="148132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D42"/>
                </a:solidFill>
                <a:latin typeface="Segoe UI"/>
              </a:rPr>
              <a:t>SliceMetric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" y="1042415"/>
            <a:ext cx="1481328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0">
                <a:solidFill>
                  <a:srgbClr val="595959"/>
                </a:solidFill>
                <a:latin typeface="Segoe UI"/>
              </a:rPr>
              <a:t>Pizza Chain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" y="1481328"/>
            <a:ext cx="1335024" cy="365760"/>
          </a:xfrm>
          <a:prstGeom prst="roundRect">
            <a:avLst>
              <a:gd name="adj" fmla="val 25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8016" y="1536192"/>
            <a:ext cx="41148" cy="256032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4320" y="1600200"/>
            <a:ext cx="128016" cy="128016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481328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D62828"/>
                </a:solidFill>
                <a:latin typeface="Segoe UI"/>
              </a:rPr>
              <a:t>Overview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2075688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1956816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Products</a:t>
            </a:r>
          </a:p>
        </p:txBody>
      </p:sp>
      <p:sp>
        <p:nvSpPr>
          <p:cNvPr id="17" name="Oval 16"/>
          <p:cNvSpPr/>
          <p:nvPr/>
        </p:nvSpPr>
        <p:spPr>
          <a:xfrm>
            <a:off x="274320" y="2551176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432304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Customers</a:t>
            </a:r>
          </a:p>
        </p:txBody>
      </p:sp>
      <p:sp>
        <p:nvSpPr>
          <p:cNvPr id="19" name="Oval 18"/>
          <p:cNvSpPr/>
          <p:nvPr/>
        </p:nvSpPr>
        <p:spPr>
          <a:xfrm>
            <a:off x="274320" y="3026664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2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Branches</a:t>
            </a:r>
          </a:p>
        </p:txBody>
      </p:sp>
      <p:sp>
        <p:nvSpPr>
          <p:cNvPr id="21" name="Oval 20"/>
          <p:cNvSpPr/>
          <p:nvPr/>
        </p:nvSpPr>
        <p:spPr>
          <a:xfrm>
            <a:off x="274320" y="3502152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383280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Time</a:t>
            </a:r>
          </a:p>
        </p:txBody>
      </p:sp>
      <p:sp>
        <p:nvSpPr>
          <p:cNvPr id="23" name="Oval 22"/>
          <p:cNvSpPr/>
          <p:nvPr/>
        </p:nvSpPr>
        <p:spPr>
          <a:xfrm>
            <a:off x="274320" y="3977640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858768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Quick View</a:t>
            </a:r>
          </a:p>
        </p:txBody>
      </p:sp>
      <p:sp>
        <p:nvSpPr>
          <p:cNvPr id="25" name="Oval 24"/>
          <p:cNvSpPr/>
          <p:nvPr/>
        </p:nvSpPr>
        <p:spPr>
          <a:xfrm>
            <a:off x="274320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0623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3232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5840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52144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4320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20623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66928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13232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59536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5840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52144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74320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20623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6928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13232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59536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5840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52144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rc 45"/>
          <p:cNvSpPr/>
          <p:nvPr/>
        </p:nvSpPr>
        <p:spPr>
          <a:xfrm>
            <a:off x="566928" y="5230368"/>
            <a:ext cx="146304" cy="292608"/>
          </a:xfrm>
          <a:prstGeom prst="arc">
            <a:avLst/>
          </a:prstGeom>
          <a:noFill/>
          <a:ln w="22225">
            <a:solidFill>
              <a:srgbClr val="E9A3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Arc 46"/>
          <p:cNvSpPr/>
          <p:nvPr/>
        </p:nvSpPr>
        <p:spPr>
          <a:xfrm>
            <a:off x="896112" y="5175504"/>
            <a:ext cx="146304" cy="347472"/>
          </a:xfrm>
          <a:prstGeom prst="arc">
            <a:avLst/>
          </a:prstGeom>
          <a:noFill/>
          <a:ln w="22225">
            <a:solidFill>
              <a:srgbClr val="E9A3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47472" y="5650992"/>
            <a:ext cx="969264" cy="137160"/>
          </a:xfrm>
          <a:prstGeom prst="roundRect">
            <a:avLst>
              <a:gd name="adj" fmla="val 50000"/>
            </a:avLst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 rot="10800000">
            <a:off x="402336" y="5769864"/>
            <a:ext cx="859536" cy="749808"/>
          </a:xfrm>
          <a:prstGeom prst="triangl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03504" y="5888736"/>
            <a:ext cx="91440" cy="91440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14400" y="5852160"/>
            <a:ext cx="91440" cy="91440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49808" y="6126480"/>
            <a:ext cx="91440" cy="91440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83080" y="146304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B2D42"/>
                </a:solidFill>
                <a:latin typeface="Segoe UI"/>
              </a:rPr>
              <a:t>Executive Overview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01368" y="676656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95959"/>
                </a:solidFill>
                <a:latin typeface="Segoe UI"/>
              </a:rPr>
              <a:t>A quick snapshot of overall business performance</a:t>
            </a:r>
          </a:p>
        </p:txBody>
      </p:sp>
      <p:sp>
        <p:nvSpPr>
          <p:cNvPr id="55" name="Wave 54"/>
          <p:cNvSpPr/>
          <p:nvPr/>
        </p:nvSpPr>
        <p:spPr>
          <a:xfrm>
            <a:off x="1783080" y="950976"/>
            <a:ext cx="3931920" cy="91440"/>
          </a:xfrm>
          <a:prstGeom prst="wav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0" y="182880"/>
            <a:ext cx="1417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2B2D42"/>
                </a:solidFill>
                <a:latin typeface="Segoe UI"/>
              </a:rPr>
              <a:t>PRODUCT NAME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0" y="384048"/>
            <a:ext cx="1417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0" y="384048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All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38404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▾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9680" y="182880"/>
            <a:ext cx="1417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2B2D42"/>
                </a:solidFill>
                <a:latin typeface="Segoe UI"/>
              </a:rPr>
              <a:t>BRANCH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869680" y="384048"/>
            <a:ext cx="1417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61119" y="384048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All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21240" y="38404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▾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24159" y="182880"/>
            <a:ext cx="1417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2B2D42"/>
                </a:solidFill>
                <a:latin typeface="Segoe UI"/>
              </a:rPr>
              <a:t>MONTH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424159" y="384048"/>
            <a:ext cx="1417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515599" y="384048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All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75719" y="38404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▾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783080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911095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13432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TOTAL SALES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51452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979468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81804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TOTAL ORDERS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919825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047841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50177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TOTAL PROFIT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988198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116214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18550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AVG ORDER VALUE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056571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84587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586923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PROFIT MARGIN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783080" y="2212848"/>
            <a:ext cx="5010912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892807" y="2322576"/>
            <a:ext cx="54864" cy="23774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2020824" y="2304288"/>
            <a:ext cx="4535424" cy="274320"/>
          </a:xfrm>
          <a:prstGeom prst="roundRect">
            <a:avLst>
              <a:gd name="adj" fmla="val 3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20824" y="2304288"/>
            <a:ext cx="4535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REVENUE BY BRANCH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949440" y="2212848"/>
            <a:ext cx="5010912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59168" y="2322576"/>
            <a:ext cx="54864" cy="23774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7187184" y="2304288"/>
            <a:ext cx="4535424" cy="274320"/>
          </a:xfrm>
          <a:prstGeom prst="roundRect">
            <a:avLst>
              <a:gd name="adj" fmla="val 3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87184" y="2304288"/>
            <a:ext cx="4535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REVENUE BY PRODUCT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783080" y="4480560"/>
            <a:ext cx="5010912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892807" y="4590288"/>
            <a:ext cx="54864" cy="23774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2020824" y="4572000"/>
            <a:ext cx="4535424" cy="274320"/>
          </a:xfrm>
          <a:prstGeom prst="roundRect">
            <a:avLst>
              <a:gd name="adj" fmla="val 3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020824" y="4572000"/>
            <a:ext cx="4535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REVENUE BY CATEGORY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949440" y="4480560"/>
            <a:ext cx="5010912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059168" y="4590288"/>
            <a:ext cx="54864" cy="23774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7187184" y="4572000"/>
            <a:ext cx="4535424" cy="274320"/>
          </a:xfrm>
          <a:prstGeom prst="roundRect">
            <a:avLst>
              <a:gd name="adj" fmla="val 3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187184" y="4572000"/>
            <a:ext cx="4535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SALES TREND BY MONTH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72768" y="0"/>
            <a:ext cx="18288" cy="6858000"/>
          </a:xfrm>
          <a:prstGeom prst="rect">
            <a:avLst/>
          </a:prstGeom>
          <a:solidFill>
            <a:srgbClr val="EDD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8347" y="201168"/>
            <a:ext cx="576072" cy="98755"/>
          </a:xfrm>
          <a:prstGeom prst="roundRect">
            <a:avLst>
              <a:gd name="adj" fmla="val 50000"/>
            </a:avLst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31266" y="290779"/>
            <a:ext cx="510235" cy="452628"/>
          </a:xfrm>
          <a:prstGeom prst="triangl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4710" y="349300"/>
            <a:ext cx="61722" cy="61722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5761" y="382219"/>
            <a:ext cx="61722" cy="61722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5236" y="513892"/>
            <a:ext cx="61722" cy="61722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804672"/>
            <a:ext cx="148132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D42"/>
                </a:solidFill>
                <a:latin typeface="Segoe UI"/>
              </a:rPr>
              <a:t>SliceMetric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" y="1042415"/>
            <a:ext cx="1481328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0">
                <a:solidFill>
                  <a:srgbClr val="595959"/>
                </a:solidFill>
                <a:latin typeface="Segoe UI"/>
              </a:rPr>
              <a:t>Pizza Chain Analytics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1600200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481328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1956816"/>
            <a:ext cx="1335024" cy="365760"/>
          </a:xfrm>
          <a:prstGeom prst="roundRect">
            <a:avLst>
              <a:gd name="adj" fmla="val 25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8016" y="2011680"/>
            <a:ext cx="41148" cy="256032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4320" y="2075688"/>
            <a:ext cx="128016" cy="128016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1956816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D62828"/>
                </a:solidFill>
                <a:latin typeface="Segoe UI"/>
              </a:rPr>
              <a:t>Products</a:t>
            </a:r>
          </a:p>
        </p:txBody>
      </p:sp>
      <p:sp>
        <p:nvSpPr>
          <p:cNvPr id="17" name="Oval 16"/>
          <p:cNvSpPr/>
          <p:nvPr/>
        </p:nvSpPr>
        <p:spPr>
          <a:xfrm>
            <a:off x="274320" y="2551176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432304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Customers</a:t>
            </a:r>
          </a:p>
        </p:txBody>
      </p:sp>
      <p:sp>
        <p:nvSpPr>
          <p:cNvPr id="19" name="Oval 18"/>
          <p:cNvSpPr/>
          <p:nvPr/>
        </p:nvSpPr>
        <p:spPr>
          <a:xfrm>
            <a:off x="274320" y="3026664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2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Branches</a:t>
            </a:r>
          </a:p>
        </p:txBody>
      </p:sp>
      <p:sp>
        <p:nvSpPr>
          <p:cNvPr id="21" name="Oval 20"/>
          <p:cNvSpPr/>
          <p:nvPr/>
        </p:nvSpPr>
        <p:spPr>
          <a:xfrm>
            <a:off x="274320" y="3502152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383280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Time</a:t>
            </a:r>
          </a:p>
        </p:txBody>
      </p:sp>
      <p:sp>
        <p:nvSpPr>
          <p:cNvPr id="23" name="Oval 22"/>
          <p:cNvSpPr/>
          <p:nvPr/>
        </p:nvSpPr>
        <p:spPr>
          <a:xfrm>
            <a:off x="274320" y="3977640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858768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Quick View</a:t>
            </a:r>
          </a:p>
        </p:txBody>
      </p:sp>
      <p:sp>
        <p:nvSpPr>
          <p:cNvPr id="25" name="Oval 24"/>
          <p:cNvSpPr/>
          <p:nvPr/>
        </p:nvSpPr>
        <p:spPr>
          <a:xfrm>
            <a:off x="274320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0623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3232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5840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52144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4320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20623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66928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13232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59536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5840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52144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74320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20623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6928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13232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59536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5840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52144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rc 45"/>
          <p:cNvSpPr/>
          <p:nvPr/>
        </p:nvSpPr>
        <p:spPr>
          <a:xfrm>
            <a:off x="566928" y="5230368"/>
            <a:ext cx="146304" cy="292608"/>
          </a:xfrm>
          <a:prstGeom prst="arc">
            <a:avLst/>
          </a:prstGeom>
          <a:noFill/>
          <a:ln w="22225">
            <a:solidFill>
              <a:srgbClr val="E9A3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Arc 46"/>
          <p:cNvSpPr/>
          <p:nvPr/>
        </p:nvSpPr>
        <p:spPr>
          <a:xfrm>
            <a:off x="896112" y="5175504"/>
            <a:ext cx="146304" cy="347472"/>
          </a:xfrm>
          <a:prstGeom prst="arc">
            <a:avLst/>
          </a:prstGeom>
          <a:noFill/>
          <a:ln w="22225">
            <a:solidFill>
              <a:srgbClr val="E9A3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47472" y="5650992"/>
            <a:ext cx="969264" cy="137160"/>
          </a:xfrm>
          <a:prstGeom prst="roundRect">
            <a:avLst>
              <a:gd name="adj" fmla="val 50000"/>
            </a:avLst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 rot="10800000">
            <a:off x="402336" y="5769864"/>
            <a:ext cx="859536" cy="749808"/>
          </a:xfrm>
          <a:prstGeom prst="triangl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03504" y="5888736"/>
            <a:ext cx="91440" cy="91440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14400" y="5852160"/>
            <a:ext cx="91440" cy="91440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49808" y="6126480"/>
            <a:ext cx="91440" cy="91440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83080" y="146304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B2D42"/>
                </a:solidFill>
                <a:latin typeface="Segoe UI"/>
              </a:rPr>
              <a:t>Product Performance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01368" y="676656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95959"/>
                </a:solidFill>
                <a:latin typeface="Segoe UI"/>
              </a:rPr>
              <a:t>Analyze how each product and category is performing</a:t>
            </a:r>
          </a:p>
        </p:txBody>
      </p:sp>
      <p:sp>
        <p:nvSpPr>
          <p:cNvPr id="55" name="Wave 54"/>
          <p:cNvSpPr/>
          <p:nvPr/>
        </p:nvSpPr>
        <p:spPr>
          <a:xfrm>
            <a:off x="1783080" y="950976"/>
            <a:ext cx="3931920" cy="91440"/>
          </a:xfrm>
          <a:prstGeom prst="wav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0" y="182880"/>
            <a:ext cx="1417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2B2D42"/>
                </a:solidFill>
                <a:latin typeface="Segoe UI"/>
              </a:rPr>
              <a:t>CATEGORY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0" y="384048"/>
            <a:ext cx="1417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0" y="384048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All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38404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▾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9680" y="182880"/>
            <a:ext cx="1417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2B2D42"/>
                </a:solidFill>
                <a:latin typeface="Segoe UI"/>
              </a:rPr>
              <a:t>BRANCH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869680" y="384048"/>
            <a:ext cx="1417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61119" y="384048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All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21240" y="38404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▾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24159" y="182880"/>
            <a:ext cx="1417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2B2D42"/>
                </a:solidFill>
                <a:latin typeface="Segoe UI"/>
              </a:rPr>
              <a:t>MONTH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424159" y="384048"/>
            <a:ext cx="1417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515599" y="384048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All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75719" y="38404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▾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783080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911095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13432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TOTAL REVENUE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51452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979468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81804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TOP CATEGORY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919825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047841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50177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TOP PRODUCT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988198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116214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18550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TOTAL ORDERS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056571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84587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586923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QUANTITY SOLD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783080" y="2212848"/>
            <a:ext cx="3288792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892807" y="2322576"/>
            <a:ext cx="54864" cy="23774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2020824" y="2304288"/>
            <a:ext cx="2813304" cy="274320"/>
          </a:xfrm>
          <a:prstGeom prst="roundRect">
            <a:avLst>
              <a:gd name="adj" fmla="val 3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20824" y="2304288"/>
            <a:ext cx="28133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REVENUE BY CATEGORY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227320" y="2212848"/>
            <a:ext cx="3288792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337048" y="2322576"/>
            <a:ext cx="54864" cy="23774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5465064" y="2304288"/>
            <a:ext cx="2813304" cy="274320"/>
          </a:xfrm>
          <a:prstGeom prst="roundRect">
            <a:avLst>
              <a:gd name="adj" fmla="val 3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65064" y="2304288"/>
            <a:ext cx="28133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TOP PRODUCTS BY PROFIT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671560" y="2212848"/>
            <a:ext cx="3288792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781288" y="2322576"/>
            <a:ext cx="54864" cy="23774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909304" y="2304288"/>
            <a:ext cx="2813304" cy="274320"/>
          </a:xfrm>
          <a:prstGeom prst="roundRect">
            <a:avLst>
              <a:gd name="adj" fmla="val 3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09304" y="2304288"/>
            <a:ext cx="28133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LOWEST SELLING PRODUCTS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783080" y="4480560"/>
            <a:ext cx="5010912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892807" y="4590288"/>
            <a:ext cx="54864" cy="23774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2020824" y="4572000"/>
            <a:ext cx="4535424" cy="274320"/>
          </a:xfrm>
          <a:prstGeom prst="roundRect">
            <a:avLst>
              <a:gd name="adj" fmla="val 3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020824" y="4572000"/>
            <a:ext cx="4535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TOP 10 PRODUCTS BY REVENUE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949440" y="4480560"/>
            <a:ext cx="5010912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059168" y="4590288"/>
            <a:ext cx="54864" cy="23774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7187184" y="4572000"/>
            <a:ext cx="4535424" cy="274320"/>
          </a:xfrm>
          <a:prstGeom prst="roundRect">
            <a:avLst>
              <a:gd name="adj" fmla="val 3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187184" y="4572000"/>
            <a:ext cx="4535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QUANTITY SOLD BY PRODUCT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72768" y="0"/>
            <a:ext cx="18288" cy="6858000"/>
          </a:xfrm>
          <a:prstGeom prst="rect">
            <a:avLst/>
          </a:prstGeom>
          <a:solidFill>
            <a:srgbClr val="EDD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8347" y="201168"/>
            <a:ext cx="576072" cy="98755"/>
          </a:xfrm>
          <a:prstGeom prst="roundRect">
            <a:avLst>
              <a:gd name="adj" fmla="val 50000"/>
            </a:avLst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31266" y="290779"/>
            <a:ext cx="510235" cy="452628"/>
          </a:xfrm>
          <a:prstGeom prst="triangl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4710" y="349300"/>
            <a:ext cx="61722" cy="61722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5761" y="382219"/>
            <a:ext cx="61722" cy="61722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5236" y="513892"/>
            <a:ext cx="61722" cy="61722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804672"/>
            <a:ext cx="148132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D42"/>
                </a:solidFill>
                <a:latin typeface="Segoe UI"/>
              </a:rPr>
              <a:t>SliceMetric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" y="1042415"/>
            <a:ext cx="1481328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0">
                <a:solidFill>
                  <a:srgbClr val="595959"/>
                </a:solidFill>
                <a:latin typeface="Segoe UI"/>
              </a:rPr>
              <a:t>Pizza Chain Analytics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1600200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481328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Overview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2075688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956816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Products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2432304"/>
            <a:ext cx="1335024" cy="365760"/>
          </a:xfrm>
          <a:prstGeom prst="roundRect">
            <a:avLst>
              <a:gd name="adj" fmla="val 25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8016" y="2487168"/>
            <a:ext cx="41148" cy="256032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4320" y="2551176"/>
            <a:ext cx="128016" cy="128016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432304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D62828"/>
                </a:solidFill>
                <a:latin typeface="Segoe UI"/>
              </a:rPr>
              <a:t>Customers</a:t>
            </a:r>
          </a:p>
        </p:txBody>
      </p:sp>
      <p:sp>
        <p:nvSpPr>
          <p:cNvPr id="19" name="Oval 18"/>
          <p:cNvSpPr/>
          <p:nvPr/>
        </p:nvSpPr>
        <p:spPr>
          <a:xfrm>
            <a:off x="274320" y="3026664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2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Branches</a:t>
            </a:r>
          </a:p>
        </p:txBody>
      </p:sp>
      <p:sp>
        <p:nvSpPr>
          <p:cNvPr id="21" name="Oval 20"/>
          <p:cNvSpPr/>
          <p:nvPr/>
        </p:nvSpPr>
        <p:spPr>
          <a:xfrm>
            <a:off x="274320" y="3502152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383280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Time</a:t>
            </a:r>
          </a:p>
        </p:txBody>
      </p:sp>
      <p:sp>
        <p:nvSpPr>
          <p:cNvPr id="23" name="Oval 22"/>
          <p:cNvSpPr/>
          <p:nvPr/>
        </p:nvSpPr>
        <p:spPr>
          <a:xfrm>
            <a:off x="274320" y="3977640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858768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Quick View</a:t>
            </a:r>
          </a:p>
        </p:txBody>
      </p:sp>
      <p:sp>
        <p:nvSpPr>
          <p:cNvPr id="25" name="Oval 24"/>
          <p:cNvSpPr/>
          <p:nvPr/>
        </p:nvSpPr>
        <p:spPr>
          <a:xfrm>
            <a:off x="274320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0623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3232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5840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52144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4320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20623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66928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13232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59536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5840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52144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74320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20623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6928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13232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59536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5840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52144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rc 45"/>
          <p:cNvSpPr/>
          <p:nvPr/>
        </p:nvSpPr>
        <p:spPr>
          <a:xfrm>
            <a:off x="566928" y="5230368"/>
            <a:ext cx="146304" cy="292608"/>
          </a:xfrm>
          <a:prstGeom prst="arc">
            <a:avLst/>
          </a:prstGeom>
          <a:noFill/>
          <a:ln w="22225">
            <a:solidFill>
              <a:srgbClr val="E9A3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Arc 46"/>
          <p:cNvSpPr/>
          <p:nvPr/>
        </p:nvSpPr>
        <p:spPr>
          <a:xfrm>
            <a:off x="896112" y="5175504"/>
            <a:ext cx="146304" cy="347472"/>
          </a:xfrm>
          <a:prstGeom prst="arc">
            <a:avLst/>
          </a:prstGeom>
          <a:noFill/>
          <a:ln w="22225">
            <a:solidFill>
              <a:srgbClr val="E9A3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47472" y="5650992"/>
            <a:ext cx="969264" cy="137160"/>
          </a:xfrm>
          <a:prstGeom prst="roundRect">
            <a:avLst>
              <a:gd name="adj" fmla="val 50000"/>
            </a:avLst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 rot="10800000">
            <a:off x="402336" y="5769864"/>
            <a:ext cx="859536" cy="749808"/>
          </a:xfrm>
          <a:prstGeom prst="triangl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03504" y="5888736"/>
            <a:ext cx="91440" cy="91440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14400" y="5852160"/>
            <a:ext cx="91440" cy="91440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49808" y="6126480"/>
            <a:ext cx="91440" cy="91440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83080" y="146304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B2D42"/>
                </a:solidFill>
                <a:latin typeface="Segoe UI"/>
              </a:rPr>
              <a:t>Customer Behaviour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01368" y="676656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95959"/>
                </a:solidFill>
                <a:latin typeface="Segoe UI"/>
              </a:rPr>
              <a:t>Understand customer preferences and ordering patterns</a:t>
            </a:r>
          </a:p>
        </p:txBody>
      </p:sp>
      <p:sp>
        <p:nvSpPr>
          <p:cNvPr id="55" name="Wave 54"/>
          <p:cNvSpPr/>
          <p:nvPr/>
        </p:nvSpPr>
        <p:spPr>
          <a:xfrm>
            <a:off x="1783080" y="950976"/>
            <a:ext cx="3931920" cy="91440"/>
          </a:xfrm>
          <a:prstGeom prst="wav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0" y="182880"/>
            <a:ext cx="1417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2B2D42"/>
                </a:solidFill>
                <a:latin typeface="Segoe UI"/>
              </a:rPr>
              <a:t>CUSTOMER TYPE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0" y="384048"/>
            <a:ext cx="1417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0" y="384048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All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38404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▾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9680" y="182880"/>
            <a:ext cx="1417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2B2D42"/>
                </a:solidFill>
                <a:latin typeface="Segoe UI"/>
              </a:rPr>
              <a:t>BRANCH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869680" y="384048"/>
            <a:ext cx="1417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61119" y="384048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All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21240" y="38404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▾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24159" y="182880"/>
            <a:ext cx="1417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2B2D42"/>
                </a:solidFill>
                <a:latin typeface="Segoe UI"/>
              </a:rPr>
              <a:t>PAYMENT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424159" y="384048"/>
            <a:ext cx="1417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515599" y="384048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All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75719" y="38404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▾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783080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911095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13432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TOTAL ORDERS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51452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979468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81804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AVG BASKET SIZE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919825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047841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50177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DINE-IN %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988198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116214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18550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DELIVERY %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056571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84587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586923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TAKEAWAY %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783080" y="2212848"/>
            <a:ext cx="3288792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892807" y="2322576"/>
            <a:ext cx="54864" cy="23774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2020824" y="2304288"/>
            <a:ext cx="2813304" cy="274320"/>
          </a:xfrm>
          <a:prstGeom prst="roundRect">
            <a:avLst>
              <a:gd name="adj" fmla="val 3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20824" y="2304288"/>
            <a:ext cx="28133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ORDERS BY WEEKDAY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227320" y="2212848"/>
            <a:ext cx="3288792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337048" y="2322576"/>
            <a:ext cx="54864" cy="23774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5465064" y="2304288"/>
            <a:ext cx="2813304" cy="274320"/>
          </a:xfrm>
          <a:prstGeom prst="roundRect">
            <a:avLst>
              <a:gd name="adj" fmla="val 3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65064" y="2304288"/>
            <a:ext cx="28133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ORDERS BY CUSTOMER TYPE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671560" y="2212848"/>
            <a:ext cx="3288792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781288" y="2322576"/>
            <a:ext cx="54864" cy="23774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909304" y="2304288"/>
            <a:ext cx="2813304" cy="274320"/>
          </a:xfrm>
          <a:prstGeom prst="roundRect">
            <a:avLst>
              <a:gd name="adj" fmla="val 3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09304" y="2304288"/>
            <a:ext cx="28133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PAYMENT DISTRIBUTION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783080" y="4480560"/>
            <a:ext cx="5010912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892807" y="4590288"/>
            <a:ext cx="54864" cy="23774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2020824" y="4572000"/>
            <a:ext cx="4535424" cy="274320"/>
          </a:xfrm>
          <a:prstGeom prst="roundRect">
            <a:avLst>
              <a:gd name="adj" fmla="val 3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020824" y="4572000"/>
            <a:ext cx="4535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MONTHLY ORDER TREND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949440" y="4480560"/>
            <a:ext cx="5010912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059168" y="4590288"/>
            <a:ext cx="54864" cy="23774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7187184" y="4572000"/>
            <a:ext cx="4535424" cy="274320"/>
          </a:xfrm>
          <a:prstGeom prst="roundRect">
            <a:avLst>
              <a:gd name="adj" fmla="val 3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187184" y="4572000"/>
            <a:ext cx="4535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BASKET SIZE BY CATEGORY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72768" y="0"/>
            <a:ext cx="18288" cy="6858000"/>
          </a:xfrm>
          <a:prstGeom prst="rect">
            <a:avLst/>
          </a:prstGeom>
          <a:solidFill>
            <a:srgbClr val="EDD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8347" y="201168"/>
            <a:ext cx="576072" cy="98755"/>
          </a:xfrm>
          <a:prstGeom prst="roundRect">
            <a:avLst>
              <a:gd name="adj" fmla="val 50000"/>
            </a:avLst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31266" y="290779"/>
            <a:ext cx="510235" cy="452628"/>
          </a:xfrm>
          <a:prstGeom prst="triangl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4710" y="349300"/>
            <a:ext cx="61722" cy="61722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5761" y="382219"/>
            <a:ext cx="61722" cy="61722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5236" y="513892"/>
            <a:ext cx="61722" cy="61722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804672"/>
            <a:ext cx="148132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D42"/>
                </a:solidFill>
                <a:latin typeface="Segoe UI"/>
              </a:rPr>
              <a:t>SliceMetric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" y="1042415"/>
            <a:ext cx="1481328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0">
                <a:solidFill>
                  <a:srgbClr val="595959"/>
                </a:solidFill>
                <a:latin typeface="Segoe UI"/>
              </a:rPr>
              <a:t>Pizza Chain Analytics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1600200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481328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Overview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2075688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956816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Products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2551176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432304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Customers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2907792"/>
            <a:ext cx="1335024" cy="365760"/>
          </a:xfrm>
          <a:prstGeom prst="roundRect">
            <a:avLst>
              <a:gd name="adj" fmla="val 25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8016" y="2962656"/>
            <a:ext cx="41148" cy="256032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74320" y="3026664"/>
            <a:ext cx="128016" cy="128016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2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D62828"/>
                </a:solidFill>
                <a:latin typeface="Segoe UI"/>
              </a:rPr>
              <a:t>Branches</a:t>
            </a:r>
          </a:p>
        </p:txBody>
      </p:sp>
      <p:sp>
        <p:nvSpPr>
          <p:cNvPr id="21" name="Oval 20"/>
          <p:cNvSpPr/>
          <p:nvPr/>
        </p:nvSpPr>
        <p:spPr>
          <a:xfrm>
            <a:off x="274320" y="3502152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383280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Time</a:t>
            </a:r>
          </a:p>
        </p:txBody>
      </p:sp>
      <p:sp>
        <p:nvSpPr>
          <p:cNvPr id="23" name="Oval 22"/>
          <p:cNvSpPr/>
          <p:nvPr/>
        </p:nvSpPr>
        <p:spPr>
          <a:xfrm>
            <a:off x="274320" y="3977640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858768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Quick View</a:t>
            </a:r>
          </a:p>
        </p:txBody>
      </p:sp>
      <p:sp>
        <p:nvSpPr>
          <p:cNvPr id="25" name="Oval 24"/>
          <p:cNvSpPr/>
          <p:nvPr/>
        </p:nvSpPr>
        <p:spPr>
          <a:xfrm>
            <a:off x="274320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0623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3232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5840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52144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4320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20623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66928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13232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59536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5840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52144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74320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20623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6928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13232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59536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5840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52144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rc 45"/>
          <p:cNvSpPr/>
          <p:nvPr/>
        </p:nvSpPr>
        <p:spPr>
          <a:xfrm>
            <a:off x="566928" y="5230368"/>
            <a:ext cx="146304" cy="292608"/>
          </a:xfrm>
          <a:prstGeom prst="arc">
            <a:avLst/>
          </a:prstGeom>
          <a:noFill/>
          <a:ln w="22225">
            <a:solidFill>
              <a:srgbClr val="E9A3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Arc 46"/>
          <p:cNvSpPr/>
          <p:nvPr/>
        </p:nvSpPr>
        <p:spPr>
          <a:xfrm>
            <a:off x="896112" y="5175504"/>
            <a:ext cx="146304" cy="347472"/>
          </a:xfrm>
          <a:prstGeom prst="arc">
            <a:avLst/>
          </a:prstGeom>
          <a:noFill/>
          <a:ln w="22225">
            <a:solidFill>
              <a:srgbClr val="E9A3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47472" y="5650992"/>
            <a:ext cx="969264" cy="137160"/>
          </a:xfrm>
          <a:prstGeom prst="roundRect">
            <a:avLst>
              <a:gd name="adj" fmla="val 50000"/>
            </a:avLst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 rot="10800000">
            <a:off x="402336" y="5769864"/>
            <a:ext cx="859536" cy="749808"/>
          </a:xfrm>
          <a:prstGeom prst="triangl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03504" y="5888736"/>
            <a:ext cx="91440" cy="91440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14400" y="5852160"/>
            <a:ext cx="91440" cy="91440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49808" y="6126480"/>
            <a:ext cx="91440" cy="91440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83080" y="146304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B2D42"/>
                </a:solidFill>
                <a:latin typeface="Segoe UI"/>
              </a:rPr>
              <a:t>Branch Performance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01368" y="676656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95959"/>
                </a:solidFill>
                <a:latin typeface="Segoe UI"/>
              </a:rPr>
              <a:t>Compare performance across every branch</a:t>
            </a:r>
          </a:p>
        </p:txBody>
      </p:sp>
      <p:sp>
        <p:nvSpPr>
          <p:cNvPr id="55" name="Wave 54"/>
          <p:cNvSpPr/>
          <p:nvPr/>
        </p:nvSpPr>
        <p:spPr>
          <a:xfrm>
            <a:off x="1783080" y="950976"/>
            <a:ext cx="3931920" cy="91440"/>
          </a:xfrm>
          <a:prstGeom prst="wav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0" y="182880"/>
            <a:ext cx="1417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2B2D42"/>
                </a:solidFill>
                <a:latin typeface="Segoe UI"/>
              </a:rPr>
              <a:t>PRODUCT NAME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0" y="384048"/>
            <a:ext cx="1417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0" y="384048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All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38404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▾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9680" y="182880"/>
            <a:ext cx="1417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2B2D42"/>
                </a:solidFill>
                <a:latin typeface="Segoe UI"/>
              </a:rPr>
              <a:t>BRANCH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869680" y="384048"/>
            <a:ext cx="1417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61119" y="384048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All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21240" y="38404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▾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24159" y="182880"/>
            <a:ext cx="1417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2B2D42"/>
                </a:solidFill>
                <a:latin typeface="Segoe UI"/>
              </a:rPr>
              <a:t>MONTH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424159" y="384048"/>
            <a:ext cx="1417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515599" y="384048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All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75719" y="38404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▾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783080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911095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13432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TOTAL REVENUE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51452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979468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81804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TOTAL BRANCHES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919825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047841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50177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TOTAL ORDERS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988198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116214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18550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TOTAL PROFIT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056571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84587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586923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TOP BRANCH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783080" y="2212848"/>
            <a:ext cx="3288792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892807" y="2322576"/>
            <a:ext cx="54864" cy="23774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2020824" y="2304288"/>
            <a:ext cx="2813304" cy="274320"/>
          </a:xfrm>
          <a:prstGeom prst="roundRect">
            <a:avLst>
              <a:gd name="adj" fmla="val 3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20824" y="2304288"/>
            <a:ext cx="28133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REVENUE BY BRANCH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227320" y="2212848"/>
            <a:ext cx="3288792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337048" y="2322576"/>
            <a:ext cx="54864" cy="23774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5465064" y="2304288"/>
            <a:ext cx="2813304" cy="274320"/>
          </a:xfrm>
          <a:prstGeom prst="roundRect">
            <a:avLst>
              <a:gd name="adj" fmla="val 3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65064" y="2304288"/>
            <a:ext cx="28133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ORDERS BY BRANCH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671560" y="2212848"/>
            <a:ext cx="3288792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781288" y="2322576"/>
            <a:ext cx="54864" cy="23774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909304" y="2304288"/>
            <a:ext cx="2813304" cy="274320"/>
          </a:xfrm>
          <a:prstGeom prst="roundRect">
            <a:avLst>
              <a:gd name="adj" fmla="val 3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09304" y="2304288"/>
            <a:ext cx="28133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PROFIT BY BRANCH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783080" y="4480560"/>
            <a:ext cx="5010912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892807" y="4590288"/>
            <a:ext cx="54864" cy="23774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2020824" y="4572000"/>
            <a:ext cx="4535424" cy="274320"/>
          </a:xfrm>
          <a:prstGeom prst="roundRect">
            <a:avLst>
              <a:gd name="adj" fmla="val 3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020824" y="4572000"/>
            <a:ext cx="4535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WEEKDAY / WEEKEND ORDERS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949440" y="4480560"/>
            <a:ext cx="5010912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059168" y="4590288"/>
            <a:ext cx="54864" cy="23774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7187184" y="4572000"/>
            <a:ext cx="4535424" cy="274320"/>
          </a:xfrm>
          <a:prstGeom prst="roundRect">
            <a:avLst>
              <a:gd name="adj" fmla="val 3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187184" y="4572000"/>
            <a:ext cx="4535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REVENUE BY MONTH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72768" y="0"/>
            <a:ext cx="18288" cy="6858000"/>
          </a:xfrm>
          <a:prstGeom prst="rect">
            <a:avLst/>
          </a:prstGeom>
          <a:solidFill>
            <a:srgbClr val="EDD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8347" y="201168"/>
            <a:ext cx="576072" cy="98755"/>
          </a:xfrm>
          <a:prstGeom prst="roundRect">
            <a:avLst>
              <a:gd name="adj" fmla="val 50000"/>
            </a:avLst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31266" y="290779"/>
            <a:ext cx="510235" cy="452628"/>
          </a:xfrm>
          <a:prstGeom prst="triangl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4710" y="349300"/>
            <a:ext cx="61722" cy="61722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5761" y="382219"/>
            <a:ext cx="61722" cy="61722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5236" y="513892"/>
            <a:ext cx="61722" cy="61722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804672"/>
            <a:ext cx="148132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D42"/>
                </a:solidFill>
                <a:latin typeface="Segoe UI"/>
              </a:rPr>
              <a:t>SliceMetric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" y="1042415"/>
            <a:ext cx="1481328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0">
                <a:solidFill>
                  <a:srgbClr val="595959"/>
                </a:solidFill>
                <a:latin typeface="Segoe UI"/>
              </a:rPr>
              <a:t>Pizza Chain Analytics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1600200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481328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Overview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2075688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956816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Products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2551176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432304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Customers</a:t>
            </a:r>
          </a:p>
        </p:txBody>
      </p:sp>
      <p:sp>
        <p:nvSpPr>
          <p:cNvPr id="17" name="Oval 16"/>
          <p:cNvSpPr/>
          <p:nvPr/>
        </p:nvSpPr>
        <p:spPr>
          <a:xfrm>
            <a:off x="274320" y="3026664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907792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Branches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" y="3383280"/>
            <a:ext cx="1335024" cy="365760"/>
          </a:xfrm>
          <a:prstGeom prst="roundRect">
            <a:avLst>
              <a:gd name="adj" fmla="val 25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8016" y="3438144"/>
            <a:ext cx="41148" cy="256032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74320" y="3502152"/>
            <a:ext cx="128016" cy="128016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383280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D62828"/>
                </a:solidFill>
                <a:latin typeface="Segoe UI"/>
              </a:rPr>
              <a:t>Time</a:t>
            </a:r>
          </a:p>
        </p:txBody>
      </p:sp>
      <p:sp>
        <p:nvSpPr>
          <p:cNvPr id="23" name="Oval 22"/>
          <p:cNvSpPr/>
          <p:nvPr/>
        </p:nvSpPr>
        <p:spPr>
          <a:xfrm>
            <a:off x="274320" y="3977640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858768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Quick View</a:t>
            </a:r>
          </a:p>
        </p:txBody>
      </p:sp>
      <p:sp>
        <p:nvSpPr>
          <p:cNvPr id="25" name="Oval 24"/>
          <p:cNvSpPr/>
          <p:nvPr/>
        </p:nvSpPr>
        <p:spPr>
          <a:xfrm>
            <a:off x="274320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0623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3232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5840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52144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4320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20623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66928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13232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59536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5840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52144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74320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20623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6928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13232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59536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5840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52144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rc 45"/>
          <p:cNvSpPr/>
          <p:nvPr/>
        </p:nvSpPr>
        <p:spPr>
          <a:xfrm>
            <a:off x="566928" y="5230368"/>
            <a:ext cx="146304" cy="292608"/>
          </a:xfrm>
          <a:prstGeom prst="arc">
            <a:avLst/>
          </a:prstGeom>
          <a:noFill/>
          <a:ln w="22225">
            <a:solidFill>
              <a:srgbClr val="E9A3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Arc 46"/>
          <p:cNvSpPr/>
          <p:nvPr/>
        </p:nvSpPr>
        <p:spPr>
          <a:xfrm>
            <a:off x="896112" y="5175504"/>
            <a:ext cx="146304" cy="347472"/>
          </a:xfrm>
          <a:prstGeom prst="arc">
            <a:avLst/>
          </a:prstGeom>
          <a:noFill/>
          <a:ln w="22225">
            <a:solidFill>
              <a:srgbClr val="E9A3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47472" y="5650992"/>
            <a:ext cx="969264" cy="137160"/>
          </a:xfrm>
          <a:prstGeom prst="roundRect">
            <a:avLst>
              <a:gd name="adj" fmla="val 50000"/>
            </a:avLst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 rot="10800000">
            <a:off x="402336" y="5769864"/>
            <a:ext cx="859536" cy="749808"/>
          </a:xfrm>
          <a:prstGeom prst="triangl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03504" y="5888736"/>
            <a:ext cx="91440" cy="91440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14400" y="5852160"/>
            <a:ext cx="91440" cy="91440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49808" y="6126480"/>
            <a:ext cx="91440" cy="91440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83080" y="146304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B2D42"/>
                </a:solidFill>
                <a:latin typeface="Segoe UI"/>
              </a:rPr>
              <a:t>Time Analysis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01368" y="676656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95959"/>
                </a:solidFill>
                <a:latin typeface="Segoe UI"/>
              </a:rPr>
              <a:t>When do customers order the most?</a:t>
            </a:r>
          </a:p>
        </p:txBody>
      </p:sp>
      <p:sp>
        <p:nvSpPr>
          <p:cNvPr id="55" name="Wave 54"/>
          <p:cNvSpPr/>
          <p:nvPr/>
        </p:nvSpPr>
        <p:spPr>
          <a:xfrm>
            <a:off x="1783080" y="950976"/>
            <a:ext cx="3931920" cy="91440"/>
          </a:xfrm>
          <a:prstGeom prst="wav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0" y="182880"/>
            <a:ext cx="1417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2B2D42"/>
                </a:solidFill>
                <a:latin typeface="Segoe UI"/>
              </a:rPr>
              <a:t>PRODUCT NAME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0" y="384048"/>
            <a:ext cx="1417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0" y="384048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All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38404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▾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9680" y="182880"/>
            <a:ext cx="1417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2B2D42"/>
                </a:solidFill>
                <a:latin typeface="Segoe UI"/>
              </a:rPr>
              <a:t>BRANCH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869680" y="384048"/>
            <a:ext cx="1417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61119" y="384048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All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21240" y="38404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▾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24159" y="182880"/>
            <a:ext cx="141732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2B2D42"/>
                </a:solidFill>
                <a:latin typeface="Segoe UI"/>
              </a:rPr>
              <a:t>MONTH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424159" y="384048"/>
            <a:ext cx="1417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515599" y="384048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All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75719" y="38404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Segoe UI"/>
              </a:rPr>
              <a:t>▾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783080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911095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13432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TOTAL REVENUE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51452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979468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81804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TOTAL ORDERS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919825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047841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50177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AVG ORDER VALUE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988198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116214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18550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PEAK HOUR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056571" y="1170432"/>
            <a:ext cx="19037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84587" y="1307592"/>
            <a:ext cx="310896" cy="310896"/>
          </a:xfrm>
          <a:prstGeom prst="ellips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586923" y="1289304"/>
            <a:ext cx="12637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B2D42"/>
                </a:solidFill>
                <a:latin typeface="Segoe UI"/>
              </a:rPr>
              <a:t>PEAK DAY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783080" y="2212848"/>
            <a:ext cx="4480560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892807" y="2322576"/>
            <a:ext cx="54864" cy="23774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2020824" y="2304288"/>
            <a:ext cx="4005072" cy="274320"/>
          </a:xfrm>
          <a:prstGeom prst="roundRect">
            <a:avLst>
              <a:gd name="adj" fmla="val 3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20824" y="2304288"/>
            <a:ext cx="40050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REVENUE BY DAY OF WEEK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419088" y="2212848"/>
            <a:ext cx="5541264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528816" y="2322576"/>
            <a:ext cx="54864" cy="23774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6656832" y="2304288"/>
            <a:ext cx="5065776" cy="274320"/>
          </a:xfrm>
          <a:prstGeom prst="roundRect">
            <a:avLst>
              <a:gd name="adj" fmla="val 3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656832" y="2304288"/>
            <a:ext cx="506577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REVENUE TREND BY MONTH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783080" y="4480560"/>
            <a:ext cx="3288792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892807" y="4590288"/>
            <a:ext cx="54864" cy="23774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2020824" y="4572000"/>
            <a:ext cx="2813304" cy="274320"/>
          </a:xfrm>
          <a:prstGeom prst="roundRect">
            <a:avLst>
              <a:gd name="adj" fmla="val 3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020824" y="4572000"/>
            <a:ext cx="28133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REVENUE BY TIME OF DAY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227320" y="4480560"/>
            <a:ext cx="3288792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337048" y="4590288"/>
            <a:ext cx="54864" cy="23774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5465064" y="4572000"/>
            <a:ext cx="2813304" cy="274320"/>
          </a:xfrm>
          <a:prstGeom prst="roundRect">
            <a:avLst>
              <a:gd name="adj" fmla="val 3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65064" y="4572000"/>
            <a:ext cx="28133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SALES BY CATEGORY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671560" y="4480560"/>
            <a:ext cx="3288792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81288" y="4590288"/>
            <a:ext cx="54864" cy="237744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8909304" y="4572000"/>
            <a:ext cx="2813304" cy="274320"/>
          </a:xfrm>
          <a:prstGeom prst="roundRect">
            <a:avLst>
              <a:gd name="adj" fmla="val 30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09304" y="4572000"/>
            <a:ext cx="28133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WEEKDAY / WEEKEND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72768" y="0"/>
            <a:ext cx="18288" cy="6858000"/>
          </a:xfrm>
          <a:prstGeom prst="rect">
            <a:avLst/>
          </a:prstGeom>
          <a:solidFill>
            <a:srgbClr val="EDD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8347" y="201168"/>
            <a:ext cx="576072" cy="98755"/>
          </a:xfrm>
          <a:prstGeom prst="roundRect">
            <a:avLst>
              <a:gd name="adj" fmla="val 50000"/>
            </a:avLst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531266" y="290779"/>
            <a:ext cx="510235" cy="452628"/>
          </a:xfrm>
          <a:prstGeom prst="triangl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4710" y="349300"/>
            <a:ext cx="61722" cy="61722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5761" y="382219"/>
            <a:ext cx="61722" cy="61722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5236" y="513892"/>
            <a:ext cx="61722" cy="61722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804672"/>
            <a:ext cx="148132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D42"/>
                </a:solidFill>
                <a:latin typeface="Segoe UI"/>
              </a:rPr>
              <a:t>SliceMetric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" y="1042415"/>
            <a:ext cx="1481328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0">
                <a:solidFill>
                  <a:srgbClr val="595959"/>
                </a:solidFill>
                <a:latin typeface="Segoe UI"/>
              </a:rPr>
              <a:t>Pizza Chain Analytics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1600200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481328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Overview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2075688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956816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Products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2551176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432304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Customers</a:t>
            </a:r>
          </a:p>
        </p:txBody>
      </p:sp>
      <p:sp>
        <p:nvSpPr>
          <p:cNvPr id="17" name="Oval 16"/>
          <p:cNvSpPr/>
          <p:nvPr/>
        </p:nvSpPr>
        <p:spPr>
          <a:xfrm>
            <a:off x="274320" y="3026664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907792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Branches</a:t>
            </a:r>
          </a:p>
        </p:txBody>
      </p:sp>
      <p:sp>
        <p:nvSpPr>
          <p:cNvPr id="19" name="Oval 18"/>
          <p:cNvSpPr/>
          <p:nvPr/>
        </p:nvSpPr>
        <p:spPr>
          <a:xfrm>
            <a:off x="274320" y="3502152"/>
            <a:ext cx="128016" cy="128016"/>
          </a:xfrm>
          <a:prstGeom prst="ellipse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383280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B2D42"/>
                </a:solidFill>
                <a:latin typeface="Segoe UI"/>
              </a:rPr>
              <a:t>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016" y="3858768"/>
            <a:ext cx="1335024" cy="365760"/>
          </a:xfrm>
          <a:prstGeom prst="roundRect">
            <a:avLst>
              <a:gd name="adj" fmla="val 25000"/>
            </a:avLst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8016" y="3913632"/>
            <a:ext cx="41148" cy="256032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20" y="3977640"/>
            <a:ext cx="128016" cy="128016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858768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D62828"/>
                </a:solidFill>
                <a:latin typeface="Segoe UI"/>
              </a:rPr>
              <a:t>Quick View</a:t>
            </a:r>
          </a:p>
        </p:txBody>
      </p:sp>
      <p:sp>
        <p:nvSpPr>
          <p:cNvPr id="25" name="Oval 24"/>
          <p:cNvSpPr/>
          <p:nvPr/>
        </p:nvSpPr>
        <p:spPr>
          <a:xfrm>
            <a:off x="274320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0623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3232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5840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52144" y="4617720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4320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20623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66928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13232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59536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5840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52144" y="4764024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74320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20623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6928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13232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59536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5840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52144" y="4910328"/>
            <a:ext cx="45720" cy="45720"/>
          </a:xfrm>
          <a:prstGeom prst="ellipse">
            <a:avLst/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rc 45"/>
          <p:cNvSpPr/>
          <p:nvPr/>
        </p:nvSpPr>
        <p:spPr>
          <a:xfrm>
            <a:off x="566928" y="5230368"/>
            <a:ext cx="146304" cy="292608"/>
          </a:xfrm>
          <a:prstGeom prst="arc">
            <a:avLst/>
          </a:prstGeom>
          <a:noFill/>
          <a:ln w="22225">
            <a:solidFill>
              <a:srgbClr val="E9A3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Arc 46"/>
          <p:cNvSpPr/>
          <p:nvPr/>
        </p:nvSpPr>
        <p:spPr>
          <a:xfrm>
            <a:off x="896112" y="5175504"/>
            <a:ext cx="146304" cy="347472"/>
          </a:xfrm>
          <a:prstGeom prst="arc">
            <a:avLst/>
          </a:prstGeom>
          <a:noFill/>
          <a:ln w="22225">
            <a:solidFill>
              <a:srgbClr val="E9A3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47472" y="5650992"/>
            <a:ext cx="969264" cy="137160"/>
          </a:xfrm>
          <a:prstGeom prst="roundRect">
            <a:avLst>
              <a:gd name="adj" fmla="val 50000"/>
            </a:avLst>
          </a:prstGeom>
          <a:solidFill>
            <a:srgbClr val="E9A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 rot="10800000">
            <a:off x="402336" y="5769864"/>
            <a:ext cx="859536" cy="749808"/>
          </a:xfrm>
          <a:prstGeom prst="triangl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03504" y="5888736"/>
            <a:ext cx="91440" cy="91440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14400" y="5852160"/>
            <a:ext cx="91440" cy="91440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49808" y="6126480"/>
            <a:ext cx="91440" cy="91440"/>
          </a:xfrm>
          <a:prstGeom prst="ellipse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83080" y="146304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B2D42"/>
                </a:solidFill>
                <a:latin typeface="Segoe UI"/>
              </a:rPr>
              <a:t>Quick Analysis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01368" y="676656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95959"/>
                </a:solidFill>
                <a:latin typeface="Segoe UI"/>
              </a:rPr>
              <a:t>Select a metric and dimension — every chart updates instantly</a:t>
            </a:r>
          </a:p>
        </p:txBody>
      </p:sp>
      <p:sp>
        <p:nvSpPr>
          <p:cNvPr id="55" name="Wave 54"/>
          <p:cNvSpPr/>
          <p:nvPr/>
        </p:nvSpPr>
        <p:spPr>
          <a:xfrm>
            <a:off x="1783080" y="950976"/>
            <a:ext cx="3931920" cy="91440"/>
          </a:xfrm>
          <a:prstGeom prst="wave">
            <a:avLst/>
          </a:prstGeom>
          <a:solidFill>
            <a:srgbClr val="FB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783080" y="1060704"/>
            <a:ext cx="27432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D62828"/>
                </a:solidFill>
                <a:latin typeface="Segoe UI"/>
              </a:rPr>
              <a:t>METRIC SELECTOR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783080" y="1261872"/>
            <a:ext cx="10177272" cy="3840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783080" y="1700784"/>
            <a:ext cx="27432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2B2D42"/>
                </a:solidFill>
                <a:latin typeface="Segoe UI"/>
              </a:rPr>
              <a:t>DIMENSION SELECTOR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783080" y="1901952"/>
            <a:ext cx="10177272" cy="3840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783080" y="2450592"/>
            <a:ext cx="6400800" cy="20482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339327" y="2450592"/>
            <a:ext cx="3621024" cy="20482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783080" y="4645152"/>
            <a:ext cx="64008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339327" y="4645152"/>
            <a:ext cx="3621024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